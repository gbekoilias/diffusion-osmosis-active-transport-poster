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33"/>
    <a:srgbClr val="F9FAFB"/>
    <a:srgbClr val="E9F2F9"/>
    <a:srgbClr val="2E7D32"/>
    <a:srgbClr val="1E2A3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7" d="100"/>
          <a:sy n="17" d="100"/>
        </p:scale>
        <p:origin x="3102"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US"/>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CCEE766-1CE9-478B-AA8F-EC269CC66F2A}" type="datetimeFigureOut">
              <a:rPr lang="en-GB" smtClean="0"/>
              <a:t>30/10/2025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391499-78D9-4450-80CC-F2C25839DA60}" type="slidenum">
              <a:rPr lang="en-GB" smtClean="0"/>
              <a:t>‹#›</a:t>
            </a:fld>
            <a:endParaRPr lang="en-GB"/>
          </a:p>
        </p:txBody>
      </p:sp>
    </p:spTree>
    <p:extLst>
      <p:ext uri="{BB962C8B-B14F-4D97-AF65-F5344CB8AC3E}">
        <p14:creationId xmlns:p14="http://schemas.microsoft.com/office/powerpoint/2010/main" val="2136493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CEE766-1CE9-478B-AA8F-EC269CC66F2A}" type="datetimeFigureOut">
              <a:rPr lang="en-GB" smtClean="0"/>
              <a:t>30/10/2025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391499-78D9-4450-80CC-F2C25839DA60}" type="slidenum">
              <a:rPr lang="en-GB" smtClean="0"/>
              <a:t>‹#›</a:t>
            </a:fld>
            <a:endParaRPr lang="en-GB"/>
          </a:p>
        </p:txBody>
      </p:sp>
    </p:spTree>
    <p:extLst>
      <p:ext uri="{BB962C8B-B14F-4D97-AF65-F5344CB8AC3E}">
        <p14:creationId xmlns:p14="http://schemas.microsoft.com/office/powerpoint/2010/main" val="18277363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US"/>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tint val="82000"/>
                  </a:schemeClr>
                </a:solidFill>
              </a:defRPr>
            </a:lvl1pPr>
            <a:lvl2pPr marL="1513743" indent="0">
              <a:buNone/>
              <a:defRPr sz="6622">
                <a:solidFill>
                  <a:schemeClr val="tx1">
                    <a:tint val="82000"/>
                  </a:schemeClr>
                </a:solidFill>
              </a:defRPr>
            </a:lvl2pPr>
            <a:lvl3pPr marL="3027487" indent="0">
              <a:buNone/>
              <a:defRPr sz="5960">
                <a:solidFill>
                  <a:schemeClr val="tx1">
                    <a:tint val="82000"/>
                  </a:schemeClr>
                </a:solidFill>
              </a:defRPr>
            </a:lvl3pPr>
            <a:lvl4pPr marL="4541230" indent="0">
              <a:buNone/>
              <a:defRPr sz="5297">
                <a:solidFill>
                  <a:schemeClr val="tx1">
                    <a:tint val="82000"/>
                  </a:schemeClr>
                </a:solidFill>
              </a:defRPr>
            </a:lvl4pPr>
            <a:lvl5pPr marL="6054974" indent="0">
              <a:buNone/>
              <a:defRPr sz="5297">
                <a:solidFill>
                  <a:schemeClr val="tx1">
                    <a:tint val="82000"/>
                  </a:schemeClr>
                </a:solidFill>
              </a:defRPr>
            </a:lvl5pPr>
            <a:lvl6pPr marL="7568717" indent="0">
              <a:buNone/>
              <a:defRPr sz="5297">
                <a:solidFill>
                  <a:schemeClr val="tx1">
                    <a:tint val="82000"/>
                  </a:schemeClr>
                </a:solidFill>
              </a:defRPr>
            </a:lvl6pPr>
            <a:lvl7pPr marL="9082461" indent="0">
              <a:buNone/>
              <a:defRPr sz="5297">
                <a:solidFill>
                  <a:schemeClr val="tx1">
                    <a:tint val="82000"/>
                  </a:schemeClr>
                </a:solidFill>
              </a:defRPr>
            </a:lvl7pPr>
            <a:lvl8pPr marL="10596204" indent="0">
              <a:buNone/>
              <a:defRPr sz="5297">
                <a:solidFill>
                  <a:schemeClr val="tx1">
                    <a:tint val="82000"/>
                  </a:schemeClr>
                </a:solidFill>
              </a:defRPr>
            </a:lvl8pPr>
            <a:lvl9pPr marL="12109948" indent="0">
              <a:buNone/>
              <a:defRPr sz="5297">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CEE766-1CE9-478B-AA8F-EC269CC66F2A}" type="datetimeFigureOut">
              <a:rPr lang="en-GB" smtClean="0"/>
              <a:t>30/10/2025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391499-78D9-4450-80CC-F2C25839DA60}" type="slidenum">
              <a:rPr lang="en-GB" smtClean="0"/>
              <a:t>‹#›</a:t>
            </a:fld>
            <a:endParaRPr lang="en-GB"/>
          </a:p>
        </p:txBody>
      </p:sp>
    </p:spTree>
    <p:extLst>
      <p:ext uri="{BB962C8B-B14F-4D97-AF65-F5344CB8AC3E}">
        <p14:creationId xmlns:p14="http://schemas.microsoft.com/office/powerpoint/2010/main" val="2257901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CEE766-1CE9-478B-AA8F-EC269CC66F2A}" type="datetimeFigureOut">
              <a:rPr lang="en-GB" smtClean="0"/>
              <a:t>30/10/2025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0391499-78D9-4450-80CC-F2C25839DA60}" type="slidenum">
              <a:rPr lang="en-GB" smtClean="0"/>
              <a:t>‹#›</a:t>
            </a:fld>
            <a:endParaRPr lang="en-GB"/>
          </a:p>
        </p:txBody>
      </p:sp>
    </p:spTree>
    <p:extLst>
      <p:ext uri="{BB962C8B-B14F-4D97-AF65-F5344CB8AC3E}">
        <p14:creationId xmlns:p14="http://schemas.microsoft.com/office/powerpoint/2010/main" val="2126895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US"/>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CEE766-1CE9-478B-AA8F-EC269CC66F2A}" type="datetimeFigureOut">
              <a:rPr lang="en-GB" smtClean="0"/>
              <a:t>30/10/2025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0391499-78D9-4450-80CC-F2C25839DA60}" type="slidenum">
              <a:rPr lang="en-GB" smtClean="0"/>
              <a:t>‹#›</a:t>
            </a:fld>
            <a:endParaRPr lang="en-GB"/>
          </a:p>
        </p:txBody>
      </p:sp>
    </p:spTree>
    <p:extLst>
      <p:ext uri="{BB962C8B-B14F-4D97-AF65-F5344CB8AC3E}">
        <p14:creationId xmlns:p14="http://schemas.microsoft.com/office/powerpoint/2010/main" val="1568421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CEE766-1CE9-478B-AA8F-EC269CC66F2A}" type="datetimeFigureOut">
              <a:rPr lang="en-GB" smtClean="0"/>
              <a:t>30/10/2025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0391499-78D9-4450-80CC-F2C25839DA60}" type="slidenum">
              <a:rPr lang="en-GB" smtClean="0"/>
              <a:t>‹#›</a:t>
            </a:fld>
            <a:endParaRPr lang="en-GB"/>
          </a:p>
        </p:txBody>
      </p:sp>
    </p:spTree>
    <p:extLst>
      <p:ext uri="{BB962C8B-B14F-4D97-AF65-F5344CB8AC3E}">
        <p14:creationId xmlns:p14="http://schemas.microsoft.com/office/powerpoint/2010/main" val="4131053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CEE766-1CE9-478B-AA8F-EC269CC66F2A}" type="datetimeFigureOut">
              <a:rPr lang="en-GB" smtClean="0"/>
              <a:t>30/10/2025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0391499-78D9-4450-80CC-F2C25839DA60}" type="slidenum">
              <a:rPr lang="en-GB" smtClean="0"/>
              <a:t>‹#›</a:t>
            </a:fld>
            <a:endParaRPr lang="en-GB"/>
          </a:p>
        </p:txBody>
      </p:sp>
    </p:spTree>
    <p:extLst>
      <p:ext uri="{BB962C8B-B14F-4D97-AF65-F5344CB8AC3E}">
        <p14:creationId xmlns:p14="http://schemas.microsoft.com/office/powerpoint/2010/main" val="3550245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3CCEE766-1CE9-478B-AA8F-EC269CC66F2A}" type="datetimeFigureOut">
              <a:rPr lang="en-GB" smtClean="0"/>
              <a:t>30/10/2025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0391499-78D9-4450-80CC-F2C25839DA60}" type="slidenum">
              <a:rPr lang="en-GB" smtClean="0"/>
              <a:t>‹#›</a:t>
            </a:fld>
            <a:endParaRPr lang="en-GB"/>
          </a:p>
        </p:txBody>
      </p:sp>
    </p:spTree>
    <p:extLst>
      <p:ext uri="{BB962C8B-B14F-4D97-AF65-F5344CB8AC3E}">
        <p14:creationId xmlns:p14="http://schemas.microsoft.com/office/powerpoint/2010/main" val="100736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US"/>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US"/>
              <a:t>Click to edit Master text styles</a:t>
            </a:r>
          </a:p>
        </p:txBody>
      </p:sp>
      <p:sp>
        <p:nvSpPr>
          <p:cNvPr id="5" name="Date Placeholder 4"/>
          <p:cNvSpPr>
            <a:spLocks noGrp="1"/>
          </p:cNvSpPr>
          <p:nvPr>
            <p:ph type="dt" sz="half" idx="10"/>
          </p:nvPr>
        </p:nvSpPr>
        <p:spPr/>
        <p:txBody>
          <a:bodyPr/>
          <a:lstStyle/>
          <a:p>
            <a:fld id="{3CCEE766-1CE9-478B-AA8F-EC269CC66F2A}" type="datetimeFigureOut">
              <a:rPr lang="en-GB" smtClean="0"/>
              <a:t>30/10/2025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0391499-78D9-4450-80CC-F2C25839DA60}" type="slidenum">
              <a:rPr lang="en-GB" smtClean="0"/>
              <a:t>‹#›</a:t>
            </a:fld>
            <a:endParaRPr lang="en-GB"/>
          </a:p>
        </p:txBody>
      </p:sp>
    </p:spTree>
    <p:extLst>
      <p:ext uri="{BB962C8B-B14F-4D97-AF65-F5344CB8AC3E}">
        <p14:creationId xmlns:p14="http://schemas.microsoft.com/office/powerpoint/2010/main" val="916027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CEE766-1CE9-478B-AA8F-EC269CC66F2A}" type="datetimeFigureOut">
              <a:rPr lang="en-GB" smtClean="0"/>
              <a:t>30/10/2025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391499-78D9-4450-80CC-F2C25839DA60}" type="slidenum">
              <a:rPr lang="en-GB" smtClean="0"/>
              <a:t>‹#›</a:t>
            </a:fld>
            <a:endParaRPr lang="en-GB"/>
          </a:p>
        </p:txBody>
      </p:sp>
    </p:spTree>
    <p:extLst>
      <p:ext uri="{BB962C8B-B14F-4D97-AF65-F5344CB8AC3E}">
        <p14:creationId xmlns:p14="http://schemas.microsoft.com/office/powerpoint/2010/main" val="2980162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CEE766-1CE9-478B-AA8F-EC269CC66F2A}" type="datetimeFigureOut">
              <a:rPr lang="en-GB" smtClean="0"/>
              <a:t>30/10/2025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391499-78D9-4450-80CC-F2C25839DA60}" type="slidenum">
              <a:rPr lang="en-GB" smtClean="0"/>
              <a:t>‹#›</a:t>
            </a:fld>
            <a:endParaRPr lang="en-GB"/>
          </a:p>
        </p:txBody>
      </p:sp>
    </p:spTree>
    <p:extLst>
      <p:ext uri="{BB962C8B-B14F-4D97-AF65-F5344CB8AC3E}">
        <p14:creationId xmlns:p14="http://schemas.microsoft.com/office/powerpoint/2010/main" val="1975164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82000"/>
                  </a:schemeClr>
                </a:solidFill>
              </a:defRPr>
            </a:lvl1pPr>
          </a:lstStyle>
          <a:p>
            <a:fld id="{3CCEE766-1CE9-478B-AA8F-EC269CC66F2A}" type="datetimeFigureOut">
              <a:rPr lang="en-GB" smtClean="0"/>
              <a:t>30/10/2025</a:t>
            </a:fld>
            <a:endParaRPr lang="en-GB"/>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82000"/>
                  </a:schemeClr>
                </a:solidFill>
              </a:defRPr>
            </a:lvl1pPr>
          </a:lstStyle>
          <a:p>
            <a:fld id="{80391499-78D9-4450-80CC-F2C25839DA60}" type="slidenum">
              <a:rPr lang="en-GB" smtClean="0"/>
              <a:t>‹#›</a:t>
            </a:fld>
            <a:endParaRPr lang="en-GB"/>
          </a:p>
        </p:txBody>
      </p:sp>
    </p:spTree>
    <p:extLst>
      <p:ext uri="{BB962C8B-B14F-4D97-AF65-F5344CB8AC3E}">
        <p14:creationId xmlns:p14="http://schemas.microsoft.com/office/powerpoint/2010/main" val="5804107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143FDC2C-E974-7C4C-D620-E4809D8B5FA9}"/>
              </a:ext>
            </a:extLst>
          </p:cNvPr>
          <p:cNvSpPr txBox="1"/>
          <p:nvPr/>
        </p:nvSpPr>
        <p:spPr>
          <a:xfrm>
            <a:off x="357810" y="340555"/>
            <a:ext cx="29459582" cy="2587943"/>
          </a:xfrm>
          <a:prstGeom prst="roundRect">
            <a:avLst/>
          </a:prstGeom>
          <a:solidFill>
            <a:schemeClr val="accent1">
              <a:lumMod val="75000"/>
            </a:schemeClr>
          </a:solidFill>
        </p:spPr>
        <p:txBody>
          <a:bodyPr wrap="square" rtlCol="0">
            <a:spAutoFit/>
          </a:bodyPr>
          <a:lstStyle/>
          <a:p>
            <a:pPr algn="ctr"/>
            <a:r>
              <a:rPr lang="en-US" sz="8000" b="1" dirty="0">
                <a:solidFill>
                  <a:schemeClr val="bg1"/>
                </a:solidFill>
                <a:latin typeface="Calibri" panose="020F0502020204030204" pitchFamily="34" charset="0"/>
                <a:cs typeface="Calibri" panose="020F0502020204030204" pitchFamily="34" charset="0"/>
              </a:rPr>
              <a:t>Diffusion, Osmosis, and Active Transport </a:t>
            </a:r>
          </a:p>
          <a:p>
            <a:pPr algn="ctr"/>
            <a:r>
              <a:rPr lang="en-US" sz="6000" b="1" i="1" dirty="0">
                <a:solidFill>
                  <a:schemeClr val="bg1"/>
                </a:solidFill>
                <a:latin typeface="Calibri" panose="020F0502020204030204" pitchFamily="34" charset="0"/>
                <a:cs typeface="Calibri" panose="020F0502020204030204" pitchFamily="34" charset="0"/>
              </a:rPr>
              <a:t>How Substances Move Across Cell Membranes</a:t>
            </a:r>
            <a:endParaRPr lang="en-GB" sz="6000" b="1" i="1"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A41F67B-F144-C33A-0AF0-93683076D1EA}"/>
              </a:ext>
            </a:extLst>
          </p:cNvPr>
          <p:cNvSpPr txBox="1"/>
          <p:nvPr/>
        </p:nvSpPr>
        <p:spPr>
          <a:xfrm>
            <a:off x="357810" y="3012728"/>
            <a:ext cx="29459582" cy="7017306"/>
          </a:xfrm>
          <a:prstGeom prst="rect">
            <a:avLst/>
          </a:prstGeom>
          <a:solidFill>
            <a:schemeClr val="bg1"/>
          </a:solidFill>
          <a:ln w="12700">
            <a:solidFill>
              <a:schemeClr val="accent1">
                <a:lumMod val="75000"/>
              </a:schemeClr>
            </a:solidFill>
          </a:ln>
        </p:spPr>
        <p:txBody>
          <a:bodyPr wrap="square" rtlCol="0">
            <a:spAutoFit/>
          </a:bodyPr>
          <a:lstStyle/>
          <a:p>
            <a:r>
              <a:rPr lang="en-GB" sz="4400" dirty="0">
                <a:latin typeface="Century" panose="02040604050505020304" pitchFamily="18" charset="0"/>
              </a:rPr>
              <a:t>🟣</a:t>
            </a:r>
            <a:r>
              <a:rPr lang="en-GB" sz="4400" b="1" dirty="0">
                <a:latin typeface="Century" panose="02040604050505020304" pitchFamily="18" charset="0"/>
              </a:rPr>
              <a:t> </a:t>
            </a:r>
            <a:r>
              <a:rPr lang="en-GB" sz="5400" b="1" dirty="0">
                <a:latin typeface="Calibri" panose="020F0502020204030204" pitchFamily="34" charset="0"/>
                <a:cs typeface="Calibri" panose="020F0502020204030204" pitchFamily="34" charset="0"/>
              </a:rPr>
              <a:t>Introduction</a:t>
            </a:r>
          </a:p>
          <a:p>
            <a:pPr algn="just"/>
            <a:r>
              <a:rPr lang="en-US" sz="4400" dirty="0">
                <a:latin typeface="Calibri" panose="020F0502020204030204" pitchFamily="34" charset="0"/>
                <a:cs typeface="Calibri" panose="020F0502020204030204" pitchFamily="34" charset="0"/>
              </a:rPr>
              <a:t>Every living cell depends on the constant movement of substances in and out through the plasma membrane, which is a selectively permeable barrier controlling material exchange (Campbell, Urry, Cain, Wasserman, &amp; Minorsky, 2020). </a:t>
            </a:r>
          </a:p>
          <a:p>
            <a:pPr algn="just"/>
            <a:r>
              <a:rPr lang="en-US" sz="4400" dirty="0">
                <a:latin typeface="Calibri" panose="020F0502020204030204" pitchFamily="34" charset="0"/>
                <a:cs typeface="Calibri" panose="020F0502020204030204" pitchFamily="34" charset="0"/>
              </a:rPr>
              <a:t>This regulation maintains homeostasis, ensuring optimal internal conditions for metabolism (Sherwood, 2012). The three key mechanisms enabling molecular transport are diffusion, osmosis, and active transport (Silverthorn, 2012).</a:t>
            </a:r>
            <a:br>
              <a:rPr lang="en-US" sz="4400" dirty="0">
                <a:latin typeface="Calibri" panose="020F0502020204030204" pitchFamily="34" charset="0"/>
                <a:cs typeface="Calibri" panose="020F0502020204030204" pitchFamily="34" charset="0"/>
              </a:rPr>
            </a:br>
            <a:r>
              <a:rPr lang="en-US" sz="4400" b="1" dirty="0">
                <a:latin typeface="Calibri" panose="020F0502020204030204" pitchFamily="34" charset="0"/>
                <a:cs typeface="Calibri" panose="020F0502020204030204" pitchFamily="34" charset="0"/>
              </a:rPr>
              <a:t>Diffusion</a:t>
            </a:r>
            <a:r>
              <a:rPr lang="en-US" sz="4400" dirty="0">
                <a:latin typeface="Calibri" panose="020F0502020204030204" pitchFamily="34" charset="0"/>
                <a:cs typeface="Calibri" panose="020F0502020204030204" pitchFamily="34" charset="0"/>
              </a:rPr>
              <a:t> refers to the passive movement of particles from areas of high concentration to areas of low concentration due to molecular motion (Kratz, 2010). </a:t>
            </a:r>
          </a:p>
          <a:p>
            <a:pPr algn="just"/>
            <a:r>
              <a:rPr lang="en-US" sz="4400" b="1" dirty="0">
                <a:latin typeface="Calibri" panose="020F0502020204030204" pitchFamily="34" charset="0"/>
                <a:cs typeface="Calibri" panose="020F0502020204030204" pitchFamily="34" charset="0"/>
              </a:rPr>
              <a:t>Osmosis </a:t>
            </a:r>
            <a:r>
              <a:rPr lang="en-US" sz="4400" dirty="0">
                <a:latin typeface="Calibri" panose="020F0502020204030204" pitchFamily="34" charset="0"/>
                <a:cs typeface="Calibri" panose="020F0502020204030204" pitchFamily="34" charset="0"/>
              </a:rPr>
              <a:t>is the diffusion of water molecules across a selectively permeable membrane. </a:t>
            </a:r>
          </a:p>
          <a:p>
            <a:pPr algn="just"/>
            <a:r>
              <a:rPr lang="en-US" sz="4400" b="1" dirty="0">
                <a:latin typeface="Calibri" panose="020F0502020204030204" pitchFamily="34" charset="0"/>
                <a:cs typeface="Calibri" panose="020F0502020204030204" pitchFamily="34" charset="0"/>
              </a:rPr>
              <a:t>Active transport</a:t>
            </a:r>
            <a:r>
              <a:rPr lang="en-US" sz="4400" dirty="0">
                <a:latin typeface="Calibri" panose="020F0502020204030204" pitchFamily="34" charset="0"/>
                <a:cs typeface="Calibri" panose="020F0502020204030204" pitchFamily="34" charset="0"/>
              </a:rPr>
              <a:t>, in contrast, requires cellular energy in the form of ATP to move substances against the gradient (Lodish et al., 2008). Together, these processes sustain vital biological functions in both plant and animal cells</a:t>
            </a:r>
            <a:r>
              <a:rPr lang="en-US" sz="4000" dirty="0">
                <a:latin typeface="Century" panose="02040604050505020304" pitchFamily="18" charset="0"/>
              </a:rPr>
              <a:t>.</a:t>
            </a:r>
            <a:endParaRPr lang="en-GB" sz="1600" dirty="0">
              <a:latin typeface="Century" panose="02040604050505020304" pitchFamily="18" charset="0"/>
            </a:endParaRPr>
          </a:p>
        </p:txBody>
      </p:sp>
      <p:grpSp>
        <p:nvGrpSpPr>
          <p:cNvPr id="5" name="Group 4">
            <a:extLst>
              <a:ext uri="{FF2B5EF4-FFF2-40B4-BE49-F238E27FC236}">
                <a16:creationId xmlns:a16="http://schemas.microsoft.com/office/drawing/2014/main" id="{1EE9DC84-9E85-952A-2446-00D29899575E}"/>
              </a:ext>
            </a:extLst>
          </p:cNvPr>
          <p:cNvGrpSpPr/>
          <p:nvPr/>
        </p:nvGrpSpPr>
        <p:grpSpPr>
          <a:xfrm>
            <a:off x="357808" y="10114264"/>
            <a:ext cx="14430245" cy="13679558"/>
            <a:chOff x="357809" y="10933041"/>
            <a:chExt cx="14430245" cy="13679558"/>
          </a:xfrm>
        </p:grpSpPr>
        <p:grpSp>
          <p:nvGrpSpPr>
            <p:cNvPr id="21" name="Group 20">
              <a:extLst>
                <a:ext uri="{FF2B5EF4-FFF2-40B4-BE49-F238E27FC236}">
                  <a16:creationId xmlns:a16="http://schemas.microsoft.com/office/drawing/2014/main" id="{DEFE4B30-92F9-A6A2-B166-03D3229116B9}"/>
                </a:ext>
              </a:extLst>
            </p:cNvPr>
            <p:cNvGrpSpPr/>
            <p:nvPr/>
          </p:nvGrpSpPr>
          <p:grpSpPr>
            <a:xfrm>
              <a:off x="357809" y="10933041"/>
              <a:ext cx="14430245" cy="13679558"/>
              <a:chOff x="357809" y="10933042"/>
              <a:chExt cx="16260417" cy="12620061"/>
            </a:xfrm>
          </p:grpSpPr>
          <p:sp>
            <p:nvSpPr>
              <p:cNvPr id="18" name="Rectangle: Top Corners Rounded 17">
                <a:extLst>
                  <a:ext uri="{FF2B5EF4-FFF2-40B4-BE49-F238E27FC236}">
                    <a16:creationId xmlns:a16="http://schemas.microsoft.com/office/drawing/2014/main" id="{9A84CFB4-4775-7E36-B6E8-83B81492EF0D}"/>
                  </a:ext>
                </a:extLst>
              </p:cNvPr>
              <p:cNvSpPr/>
              <p:nvPr/>
            </p:nvSpPr>
            <p:spPr>
              <a:xfrm>
                <a:off x="357809" y="10933042"/>
                <a:ext cx="16260417" cy="1266899"/>
              </a:xfrm>
              <a:prstGeom prst="round2Same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6600" b="1" dirty="0">
                    <a:latin typeface="Calibri" panose="020F0502020204030204" pitchFamily="34" charset="0"/>
                    <a:cs typeface="Calibri" panose="020F0502020204030204" pitchFamily="34" charset="0"/>
                  </a:rPr>
                  <a:t>Diffusion</a:t>
                </a:r>
                <a:endParaRPr lang="en-GB" sz="6600" b="1" dirty="0">
                  <a:latin typeface="Calibri" panose="020F0502020204030204" pitchFamily="34" charset="0"/>
                  <a:cs typeface="Calibri" panose="020F0502020204030204" pitchFamily="34" charset="0"/>
                </a:endParaRPr>
              </a:p>
            </p:txBody>
          </p:sp>
          <p:sp>
            <p:nvSpPr>
              <p:cNvPr id="20" name="Rectangle: Top Corners Rounded 19">
                <a:extLst>
                  <a:ext uri="{FF2B5EF4-FFF2-40B4-BE49-F238E27FC236}">
                    <a16:creationId xmlns:a16="http://schemas.microsoft.com/office/drawing/2014/main" id="{244C9918-5565-A460-39EC-B89FD61B9D1A}"/>
                  </a:ext>
                </a:extLst>
              </p:cNvPr>
              <p:cNvSpPr/>
              <p:nvPr/>
            </p:nvSpPr>
            <p:spPr>
              <a:xfrm flipV="1">
                <a:off x="357809" y="12199941"/>
                <a:ext cx="16260417" cy="11353162"/>
              </a:xfrm>
              <a:prstGeom prst="round2SameRect">
                <a:avLst>
                  <a:gd name="adj1" fmla="val 5399"/>
                  <a:gd name="adj2" fmla="val 0"/>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2" name="TextBox 21">
              <a:extLst>
                <a:ext uri="{FF2B5EF4-FFF2-40B4-BE49-F238E27FC236}">
                  <a16:creationId xmlns:a16="http://schemas.microsoft.com/office/drawing/2014/main" id="{188D880C-810C-F153-2D3F-FA200F3A45C8}"/>
                </a:ext>
              </a:extLst>
            </p:cNvPr>
            <p:cNvSpPr txBox="1"/>
            <p:nvPr/>
          </p:nvSpPr>
          <p:spPr>
            <a:xfrm>
              <a:off x="600638" y="20557271"/>
              <a:ext cx="13944585" cy="3785652"/>
            </a:xfrm>
            <a:prstGeom prst="rect">
              <a:avLst/>
            </a:prstGeom>
            <a:noFill/>
          </p:spPr>
          <p:txBody>
            <a:bodyPr wrap="square" rtlCol="0">
              <a:spAutoFit/>
            </a:bodyPr>
            <a:lstStyle/>
            <a:p>
              <a:pPr algn="just"/>
              <a:r>
                <a:rPr lang="en-US" sz="4000" dirty="0">
                  <a:latin typeface="Calibri" panose="020F0502020204030204" pitchFamily="34" charset="0"/>
                  <a:cs typeface="Calibri" panose="020F0502020204030204" pitchFamily="34" charset="0"/>
                </a:rPr>
                <a:t>Diffusion operates without energy expenditure and continues until equilibrium is reached (Campbell et al., 2020). Factors such as temperature, membrane surface area, and concentration gradient influence diffusion rate (Silverthorn, 2012). A classic example is the exchange of oxygen and carbon dioxide between alveoli and blood capillaries, which occurs entirely by diffusion (Sherwood, 2012).</a:t>
              </a:r>
              <a:endParaRPr lang="en-GB" sz="4000" dirty="0">
                <a:latin typeface="Calibri" panose="020F0502020204030204" pitchFamily="34" charset="0"/>
                <a:cs typeface="Calibri" panose="020F0502020204030204" pitchFamily="34" charset="0"/>
              </a:endParaRPr>
            </a:p>
          </p:txBody>
        </p:sp>
        <p:pic>
          <p:nvPicPr>
            <p:cNvPr id="1026" name="Picture 2" descr="diffusion | PMG Biology">
              <a:extLst>
                <a:ext uri="{FF2B5EF4-FFF2-40B4-BE49-F238E27FC236}">
                  <a16:creationId xmlns:a16="http://schemas.microsoft.com/office/drawing/2014/main" id="{BEBC9CFD-7A01-46A1-6291-EFE5F83C5A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638" y="12611100"/>
              <a:ext cx="10121462" cy="774256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01814EB-1240-EFFB-4A86-BB5E2626C48C}"/>
                </a:ext>
              </a:extLst>
            </p:cNvPr>
            <p:cNvSpPr txBox="1"/>
            <p:nvPr/>
          </p:nvSpPr>
          <p:spPr>
            <a:xfrm>
              <a:off x="10825074" y="13050378"/>
              <a:ext cx="3860006" cy="4031873"/>
            </a:xfrm>
            <a:prstGeom prst="rect">
              <a:avLst/>
            </a:prstGeom>
          </p:spPr>
          <p:txBody>
            <a:bodyPr wrap="square" rtlCol="0">
              <a:spAutoFit/>
            </a:bodyPr>
            <a:lstStyle/>
            <a:p>
              <a:r>
                <a:rPr lang="en-GB" sz="3200" b="1" dirty="0">
                  <a:latin typeface="Calibri" panose="020F0502020204030204" pitchFamily="34" charset="0"/>
                  <a:cs typeface="Calibri" panose="020F0502020204030204" pitchFamily="34" charset="0"/>
                </a:rPr>
                <a:t>Figure 1.</a:t>
              </a:r>
              <a:r>
                <a:rPr lang="en-GB" sz="3200" dirty="0">
                  <a:latin typeface="Calibri" panose="020F0502020204030204" pitchFamily="34" charset="0"/>
                  <a:cs typeface="Calibri" panose="020F0502020204030204" pitchFamily="34" charset="0"/>
                </a:rPr>
                <a:t> Diffusion of oxygen and carbon dioxide across the alveolar-capillary membrane. </a:t>
              </a:r>
            </a:p>
            <a:p>
              <a:endParaRPr lang="en-GB" sz="3200" i="1" dirty="0">
                <a:latin typeface="Calibri" panose="020F0502020204030204" pitchFamily="34" charset="0"/>
                <a:cs typeface="Calibri" panose="020F0502020204030204" pitchFamily="34" charset="0"/>
              </a:endParaRPr>
            </a:p>
            <a:p>
              <a:r>
                <a:rPr lang="en-GB" sz="3200" i="1" dirty="0">
                  <a:latin typeface="Calibri" panose="020F0502020204030204" pitchFamily="34" charset="0"/>
                  <a:cs typeface="Calibri" panose="020F0502020204030204" pitchFamily="34" charset="0"/>
                </a:rPr>
                <a:t>Adapted from Gilam (2015)</a:t>
              </a:r>
              <a:endParaRPr lang="en-GB" sz="2400" dirty="0">
                <a:latin typeface="Calibri" panose="020F0502020204030204" pitchFamily="34" charset="0"/>
                <a:cs typeface="Calibri" panose="020F0502020204030204" pitchFamily="34" charset="0"/>
              </a:endParaRPr>
            </a:p>
          </p:txBody>
        </p:sp>
      </p:grpSp>
      <p:grpSp>
        <p:nvGrpSpPr>
          <p:cNvPr id="6" name="Group 5">
            <a:extLst>
              <a:ext uri="{FF2B5EF4-FFF2-40B4-BE49-F238E27FC236}">
                <a16:creationId xmlns:a16="http://schemas.microsoft.com/office/drawing/2014/main" id="{AA6CE92A-ED42-479A-B1D2-D2BA7225893B}"/>
              </a:ext>
            </a:extLst>
          </p:cNvPr>
          <p:cNvGrpSpPr/>
          <p:nvPr/>
        </p:nvGrpSpPr>
        <p:grpSpPr>
          <a:xfrm>
            <a:off x="15030883" y="10114264"/>
            <a:ext cx="14786510" cy="14746359"/>
            <a:chOff x="357809" y="10933041"/>
            <a:chExt cx="14430245" cy="14746359"/>
          </a:xfrm>
        </p:grpSpPr>
        <p:grpSp>
          <p:nvGrpSpPr>
            <p:cNvPr id="7" name="Group 6">
              <a:extLst>
                <a:ext uri="{FF2B5EF4-FFF2-40B4-BE49-F238E27FC236}">
                  <a16:creationId xmlns:a16="http://schemas.microsoft.com/office/drawing/2014/main" id="{672C3966-8E8E-9BFB-5926-047FE80F2B9E}"/>
                </a:ext>
              </a:extLst>
            </p:cNvPr>
            <p:cNvGrpSpPr/>
            <p:nvPr/>
          </p:nvGrpSpPr>
          <p:grpSpPr>
            <a:xfrm>
              <a:off x="357809" y="10933041"/>
              <a:ext cx="14430245" cy="14746359"/>
              <a:chOff x="357809" y="10933042"/>
              <a:chExt cx="16260417" cy="13604237"/>
            </a:xfrm>
          </p:grpSpPr>
          <p:sp>
            <p:nvSpPr>
              <p:cNvPr id="11" name="Rectangle: Top Corners Rounded 10">
                <a:extLst>
                  <a:ext uri="{FF2B5EF4-FFF2-40B4-BE49-F238E27FC236}">
                    <a16:creationId xmlns:a16="http://schemas.microsoft.com/office/drawing/2014/main" id="{45B0B403-FE26-FCAB-5E7F-F001B4393880}"/>
                  </a:ext>
                </a:extLst>
              </p:cNvPr>
              <p:cNvSpPr/>
              <p:nvPr/>
            </p:nvSpPr>
            <p:spPr>
              <a:xfrm>
                <a:off x="357809" y="10933042"/>
                <a:ext cx="16260417" cy="1266899"/>
              </a:xfrm>
              <a:prstGeom prst="round2Same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600" b="1" dirty="0">
                    <a:latin typeface="Calibri" panose="020F0502020204030204" pitchFamily="34" charset="0"/>
                    <a:cs typeface="Calibri" panose="020F0502020204030204" pitchFamily="34" charset="0"/>
                  </a:rPr>
                  <a:t>Osmosis</a:t>
                </a:r>
              </a:p>
            </p:txBody>
          </p:sp>
          <p:sp>
            <p:nvSpPr>
              <p:cNvPr id="12" name="Rectangle: Top Corners Rounded 11">
                <a:extLst>
                  <a:ext uri="{FF2B5EF4-FFF2-40B4-BE49-F238E27FC236}">
                    <a16:creationId xmlns:a16="http://schemas.microsoft.com/office/drawing/2014/main" id="{D83C6FBC-CF3C-DB6F-8E18-9C6F6BF13369}"/>
                  </a:ext>
                </a:extLst>
              </p:cNvPr>
              <p:cNvSpPr/>
              <p:nvPr/>
            </p:nvSpPr>
            <p:spPr>
              <a:xfrm flipV="1">
                <a:off x="357809" y="12199940"/>
                <a:ext cx="16260417" cy="12337339"/>
              </a:xfrm>
              <a:prstGeom prst="round2SameRect">
                <a:avLst>
                  <a:gd name="adj1" fmla="val 5399"/>
                  <a:gd name="adj2" fmla="val 0"/>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8" name="TextBox 7">
              <a:extLst>
                <a:ext uri="{FF2B5EF4-FFF2-40B4-BE49-F238E27FC236}">
                  <a16:creationId xmlns:a16="http://schemas.microsoft.com/office/drawing/2014/main" id="{A9BB09E7-1A8B-25BB-7607-6DCB982E486A}"/>
                </a:ext>
              </a:extLst>
            </p:cNvPr>
            <p:cNvSpPr txBox="1"/>
            <p:nvPr/>
          </p:nvSpPr>
          <p:spPr>
            <a:xfrm>
              <a:off x="600638" y="21097744"/>
              <a:ext cx="13944585" cy="4401205"/>
            </a:xfrm>
            <a:prstGeom prst="rect">
              <a:avLst/>
            </a:prstGeom>
            <a:noFill/>
          </p:spPr>
          <p:txBody>
            <a:bodyPr wrap="square" rtlCol="0">
              <a:spAutoFit/>
            </a:bodyPr>
            <a:lstStyle/>
            <a:p>
              <a:pPr algn="just"/>
              <a:r>
                <a:rPr lang="en-US" sz="4000" dirty="0">
                  <a:latin typeface="Calibri" panose="020F0502020204030204" pitchFamily="34" charset="0"/>
                  <a:cs typeface="Calibri" panose="020F0502020204030204" pitchFamily="34" charset="0"/>
                </a:rPr>
                <a:t>Osmosis involves water movement from regions of low solute concentration to high solute concentration through a partially permeable membrane (Kratz, 2010). In plant cells, water uptake maintains turgor pressure, essential for structural support, while loss of water causes plasmolysis (Campbell et al., 2020). In animal cells, excessive water inflow may lead to lysis, whereas hypertonic conditions result in crenation</a:t>
              </a:r>
              <a:endParaRPr lang="en-GB" sz="4000"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466E63AF-8CA6-F1ED-8542-559EEE7F065E}"/>
                </a:ext>
              </a:extLst>
            </p:cNvPr>
            <p:cNvSpPr txBox="1"/>
            <p:nvPr/>
          </p:nvSpPr>
          <p:spPr>
            <a:xfrm>
              <a:off x="12353293" y="12457806"/>
              <a:ext cx="2434760" cy="6494085"/>
            </a:xfrm>
            <a:prstGeom prst="rect">
              <a:avLst/>
            </a:prstGeom>
          </p:spPr>
          <p:txBody>
            <a:bodyPr wrap="square" rtlCol="0">
              <a:spAutoFit/>
            </a:bodyPr>
            <a:lstStyle/>
            <a:p>
              <a:r>
                <a:rPr lang="en-US" sz="3200" b="1" dirty="0">
                  <a:latin typeface="Calibri" panose="020F0502020204030204" pitchFamily="34" charset="0"/>
                  <a:cs typeface="Calibri" panose="020F0502020204030204" pitchFamily="34" charset="0"/>
                </a:rPr>
                <a:t>Figure 2.</a:t>
              </a:r>
              <a:r>
                <a:rPr lang="en-US" sz="3200" dirty="0">
                  <a:latin typeface="Calibri" panose="020F0502020204030204" pitchFamily="34" charset="0"/>
                  <a:cs typeface="Calibri" panose="020F0502020204030204" pitchFamily="34" charset="0"/>
                </a:rPr>
                <a:t> Osmosis in animal and plant cells under different solute conditions.</a:t>
              </a:r>
              <a:br>
                <a:rPr lang="en-US" sz="3200" dirty="0">
                  <a:latin typeface="Calibri" panose="020F0502020204030204" pitchFamily="34" charset="0"/>
                  <a:cs typeface="Calibri" panose="020F0502020204030204" pitchFamily="34" charset="0"/>
                </a:rPr>
              </a:br>
              <a:endParaRPr lang="en-US" sz="3200" dirty="0">
                <a:latin typeface="Calibri" panose="020F0502020204030204" pitchFamily="34" charset="0"/>
                <a:cs typeface="Calibri" panose="020F0502020204030204" pitchFamily="34" charset="0"/>
              </a:endParaRPr>
            </a:p>
            <a:p>
              <a:r>
                <a:rPr lang="en-US" sz="3200" i="1" dirty="0">
                  <a:latin typeface="Calibri" panose="020F0502020204030204" pitchFamily="34" charset="0"/>
                  <a:cs typeface="Calibri" panose="020F0502020204030204" pitchFamily="34" charset="0"/>
                </a:rPr>
                <a:t>Adapted from Wilkin and Brainard (2021)</a:t>
              </a:r>
              <a:endParaRPr lang="en-GB" sz="2400" i="1" dirty="0">
                <a:latin typeface="Calibri" panose="020F0502020204030204" pitchFamily="34" charset="0"/>
                <a:cs typeface="Calibri" panose="020F0502020204030204" pitchFamily="34" charset="0"/>
              </a:endParaRPr>
            </a:p>
          </p:txBody>
        </p:sp>
      </p:grpSp>
      <p:pic>
        <p:nvPicPr>
          <p:cNvPr id="1028" name="Picture 4" descr="Osmosis | CK-12 Foundation">
            <a:extLst>
              <a:ext uri="{FF2B5EF4-FFF2-40B4-BE49-F238E27FC236}">
                <a16:creationId xmlns:a16="http://schemas.microsoft.com/office/drawing/2014/main" id="{FC3DAC4F-6996-6E92-A334-A08481ED5F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79706" y="11719942"/>
            <a:ext cx="11892511" cy="8696399"/>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B0AA232F-68ED-F330-C529-8B3ECFD853FE}"/>
              </a:ext>
            </a:extLst>
          </p:cNvPr>
          <p:cNvGrpSpPr/>
          <p:nvPr/>
        </p:nvGrpSpPr>
        <p:grpSpPr>
          <a:xfrm>
            <a:off x="357808" y="23997427"/>
            <a:ext cx="14430245" cy="14369271"/>
            <a:chOff x="357809" y="10933041"/>
            <a:chExt cx="14430245" cy="13820033"/>
          </a:xfrm>
        </p:grpSpPr>
        <p:grpSp>
          <p:nvGrpSpPr>
            <p:cNvPr id="16" name="Group 15">
              <a:extLst>
                <a:ext uri="{FF2B5EF4-FFF2-40B4-BE49-F238E27FC236}">
                  <a16:creationId xmlns:a16="http://schemas.microsoft.com/office/drawing/2014/main" id="{B744A9C9-B7B7-2033-E756-2F183086C462}"/>
                </a:ext>
              </a:extLst>
            </p:cNvPr>
            <p:cNvGrpSpPr/>
            <p:nvPr/>
          </p:nvGrpSpPr>
          <p:grpSpPr>
            <a:xfrm>
              <a:off x="357809" y="10933041"/>
              <a:ext cx="14430245" cy="13820033"/>
              <a:chOff x="357809" y="10933042"/>
              <a:chExt cx="16260417" cy="12749656"/>
            </a:xfrm>
          </p:grpSpPr>
          <p:sp>
            <p:nvSpPr>
              <p:cNvPr id="24" name="Rectangle: Top Corners Rounded 23">
                <a:extLst>
                  <a:ext uri="{FF2B5EF4-FFF2-40B4-BE49-F238E27FC236}">
                    <a16:creationId xmlns:a16="http://schemas.microsoft.com/office/drawing/2014/main" id="{9FB65893-1D62-803C-D7D0-510E2DE0F296}"/>
                  </a:ext>
                </a:extLst>
              </p:cNvPr>
              <p:cNvSpPr/>
              <p:nvPr/>
            </p:nvSpPr>
            <p:spPr>
              <a:xfrm>
                <a:off x="357809" y="10933042"/>
                <a:ext cx="16260417" cy="1266899"/>
              </a:xfrm>
              <a:prstGeom prst="round2Same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600" b="1" dirty="0">
                    <a:latin typeface="Calibri" panose="020F0502020204030204" pitchFamily="34" charset="0"/>
                    <a:cs typeface="Calibri" panose="020F0502020204030204" pitchFamily="34" charset="0"/>
                  </a:rPr>
                  <a:t>Active Transport</a:t>
                </a:r>
              </a:p>
            </p:txBody>
          </p:sp>
          <p:sp>
            <p:nvSpPr>
              <p:cNvPr id="25" name="Rectangle: Top Corners Rounded 24">
                <a:extLst>
                  <a:ext uri="{FF2B5EF4-FFF2-40B4-BE49-F238E27FC236}">
                    <a16:creationId xmlns:a16="http://schemas.microsoft.com/office/drawing/2014/main" id="{F24AE650-1441-496E-B2C6-266614EBE459}"/>
                  </a:ext>
                </a:extLst>
              </p:cNvPr>
              <p:cNvSpPr/>
              <p:nvPr/>
            </p:nvSpPr>
            <p:spPr>
              <a:xfrm flipV="1">
                <a:off x="357809" y="12199940"/>
                <a:ext cx="16260417" cy="11482758"/>
              </a:xfrm>
              <a:prstGeom prst="round2SameRect">
                <a:avLst>
                  <a:gd name="adj1" fmla="val 5399"/>
                  <a:gd name="adj2" fmla="val 0"/>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7" name="TextBox 16">
              <a:extLst>
                <a:ext uri="{FF2B5EF4-FFF2-40B4-BE49-F238E27FC236}">
                  <a16:creationId xmlns:a16="http://schemas.microsoft.com/office/drawing/2014/main" id="{A373765C-0B8E-D05C-0C0B-82BA8FF1F92E}"/>
                </a:ext>
              </a:extLst>
            </p:cNvPr>
            <p:cNvSpPr txBox="1"/>
            <p:nvPr/>
          </p:nvSpPr>
          <p:spPr>
            <a:xfrm>
              <a:off x="515468" y="19729288"/>
              <a:ext cx="13944585" cy="4760072"/>
            </a:xfrm>
            <a:prstGeom prst="rect">
              <a:avLst/>
            </a:prstGeom>
            <a:noFill/>
          </p:spPr>
          <p:txBody>
            <a:bodyPr wrap="square" rtlCol="0">
              <a:spAutoFit/>
            </a:bodyPr>
            <a:lstStyle/>
            <a:p>
              <a:pPr algn="just"/>
              <a:r>
                <a:rPr lang="en-US" sz="4000" dirty="0">
                  <a:latin typeface="Calibri" panose="020F0502020204030204" pitchFamily="34" charset="0"/>
                  <a:cs typeface="Calibri" panose="020F0502020204030204" pitchFamily="34" charset="0"/>
                </a:rPr>
                <a:t>Unlike passive mechanisms, active transport requires metabolic energy (ATP) and specialized carrier proteins to move molecules against their concentration gradients (Lodish et al., 2008). </a:t>
              </a:r>
            </a:p>
            <a:p>
              <a:pPr algn="just"/>
              <a:r>
                <a:rPr lang="en-US" sz="4000" dirty="0">
                  <a:latin typeface="Calibri" panose="020F0502020204030204" pitchFamily="34" charset="0"/>
                  <a:cs typeface="Calibri" panose="020F0502020204030204" pitchFamily="34" charset="0"/>
                </a:rPr>
                <a:t>A key example is the sodium-potassium pump that maintains electrochemical gradients critical for nerve impulse transmission (Silverthorn, 2012). In plants, proton pumps in root cells actively absorb minerals from the soil even when concentrations outside are lower (Sherwood, 2012).</a:t>
              </a:r>
              <a:endParaRPr lang="en-GB" sz="4000"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B6AD0536-9841-E327-9B55-EFA9CE703B61}"/>
                </a:ext>
              </a:extLst>
            </p:cNvPr>
            <p:cNvSpPr txBox="1"/>
            <p:nvPr/>
          </p:nvSpPr>
          <p:spPr>
            <a:xfrm>
              <a:off x="12362876" y="12614720"/>
              <a:ext cx="2425178" cy="5298621"/>
            </a:xfrm>
            <a:prstGeom prst="rect">
              <a:avLst/>
            </a:prstGeom>
          </p:spPr>
          <p:txBody>
            <a:bodyPr wrap="square" rtlCol="0">
              <a:spAutoFit/>
            </a:bodyPr>
            <a:lstStyle/>
            <a:p>
              <a:r>
                <a:rPr lang="en-US" sz="3200" b="1" dirty="0"/>
                <a:t>Figure 3.</a:t>
              </a:r>
              <a:r>
                <a:rPr lang="en-US" sz="3200" dirty="0"/>
                <a:t> ATP-driven active transport across a biological membrane.</a:t>
              </a:r>
              <a:endParaRPr lang="en-GB" sz="3200" i="1" dirty="0">
                <a:latin typeface="Calibri" panose="020F0502020204030204" pitchFamily="34" charset="0"/>
                <a:cs typeface="Calibri" panose="020F0502020204030204" pitchFamily="34" charset="0"/>
              </a:endParaRPr>
            </a:p>
            <a:p>
              <a:r>
                <a:rPr lang="en-GB" sz="3200" i="1" dirty="0">
                  <a:latin typeface="Calibri" panose="020F0502020204030204" pitchFamily="34" charset="0"/>
                  <a:cs typeface="Calibri" panose="020F0502020204030204" pitchFamily="34" charset="0"/>
                </a:rPr>
                <a:t>Adapted from Quinnell et al (2004)</a:t>
              </a:r>
              <a:endParaRPr lang="en-GB" sz="2400" dirty="0">
                <a:latin typeface="Calibri" panose="020F0502020204030204" pitchFamily="34" charset="0"/>
                <a:cs typeface="Calibri" panose="020F0502020204030204" pitchFamily="34" charset="0"/>
              </a:endParaRPr>
            </a:p>
          </p:txBody>
        </p:sp>
      </p:grpSp>
      <p:pic>
        <p:nvPicPr>
          <p:cNvPr id="1030" name="Picture 6" descr="Diagrammatic representation of carrier protein that utilises ATP to... |  Download Scientific Diagram">
            <a:extLst>
              <a:ext uri="{FF2B5EF4-FFF2-40B4-BE49-F238E27FC236}">
                <a16:creationId xmlns:a16="http://schemas.microsoft.com/office/drawing/2014/main" id="{C0669012-69C2-2A1D-E164-6E1EE7B2F9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5467" y="25629863"/>
            <a:ext cx="11847407" cy="7308793"/>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Group 26">
            <a:extLst>
              <a:ext uri="{FF2B5EF4-FFF2-40B4-BE49-F238E27FC236}">
                <a16:creationId xmlns:a16="http://schemas.microsoft.com/office/drawing/2014/main" id="{EDD65AAA-E6C9-3AAC-4597-9E78B9284FEF}"/>
              </a:ext>
            </a:extLst>
          </p:cNvPr>
          <p:cNvGrpSpPr/>
          <p:nvPr/>
        </p:nvGrpSpPr>
        <p:grpSpPr>
          <a:xfrm>
            <a:off x="357807" y="38732648"/>
            <a:ext cx="29210759" cy="3848002"/>
            <a:chOff x="357809" y="10933042"/>
            <a:chExt cx="16260417" cy="12620059"/>
          </a:xfrm>
        </p:grpSpPr>
        <p:sp>
          <p:nvSpPr>
            <p:cNvPr id="31" name="Rectangle: Top Corners Rounded 30">
              <a:extLst>
                <a:ext uri="{FF2B5EF4-FFF2-40B4-BE49-F238E27FC236}">
                  <a16:creationId xmlns:a16="http://schemas.microsoft.com/office/drawing/2014/main" id="{D626400D-F366-8E56-A0B8-6B5C1773049C}"/>
                </a:ext>
              </a:extLst>
            </p:cNvPr>
            <p:cNvSpPr/>
            <p:nvPr/>
          </p:nvSpPr>
          <p:spPr>
            <a:xfrm>
              <a:off x="357809" y="10933042"/>
              <a:ext cx="16260417" cy="2705969"/>
            </a:xfrm>
            <a:prstGeom prst="round2Same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400" b="1" dirty="0">
                  <a:latin typeface="Calibri" panose="020F0502020204030204" pitchFamily="34" charset="0"/>
                  <a:cs typeface="Calibri" panose="020F0502020204030204" pitchFamily="34" charset="0"/>
                </a:rPr>
                <a:t>Summary</a:t>
              </a:r>
              <a:endParaRPr lang="en-GB" sz="5400" b="1" dirty="0">
                <a:latin typeface="Calibri" panose="020F0502020204030204" pitchFamily="34" charset="0"/>
                <a:cs typeface="Calibri" panose="020F0502020204030204" pitchFamily="34" charset="0"/>
              </a:endParaRPr>
            </a:p>
          </p:txBody>
        </p:sp>
        <p:sp>
          <p:nvSpPr>
            <p:cNvPr id="32" name="Rectangle: Top Corners Rounded 31">
              <a:extLst>
                <a:ext uri="{FF2B5EF4-FFF2-40B4-BE49-F238E27FC236}">
                  <a16:creationId xmlns:a16="http://schemas.microsoft.com/office/drawing/2014/main" id="{2E882586-59DC-2567-05E3-CD57DE9CC008}"/>
                </a:ext>
              </a:extLst>
            </p:cNvPr>
            <p:cNvSpPr/>
            <p:nvPr/>
          </p:nvSpPr>
          <p:spPr>
            <a:xfrm flipV="1">
              <a:off x="357809" y="13639009"/>
              <a:ext cx="16260417" cy="9914092"/>
            </a:xfrm>
            <a:prstGeom prst="round2SameRect">
              <a:avLst>
                <a:gd name="adj1" fmla="val 5399"/>
                <a:gd name="adj2" fmla="val 0"/>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4" name="TextBox 33">
            <a:extLst>
              <a:ext uri="{FF2B5EF4-FFF2-40B4-BE49-F238E27FC236}">
                <a16:creationId xmlns:a16="http://schemas.microsoft.com/office/drawing/2014/main" id="{7497F877-6BD3-0F87-44BE-A77BEEFD0548}"/>
              </a:ext>
            </a:extLst>
          </p:cNvPr>
          <p:cNvSpPr txBox="1"/>
          <p:nvPr/>
        </p:nvSpPr>
        <p:spPr>
          <a:xfrm>
            <a:off x="479221" y="39791035"/>
            <a:ext cx="28967929" cy="2554545"/>
          </a:xfrm>
          <a:prstGeom prst="rect">
            <a:avLst/>
          </a:prstGeom>
          <a:noFill/>
        </p:spPr>
        <p:txBody>
          <a:bodyPr wrap="square">
            <a:spAutoFit/>
          </a:bodyPr>
          <a:lstStyle/>
          <a:p>
            <a:pPr algn="just"/>
            <a:r>
              <a:rPr lang="en-GB" sz="4000" dirty="0">
                <a:latin typeface="Calibri" panose="020F0502020204030204" pitchFamily="34" charset="0"/>
                <a:cs typeface="Calibri" panose="020F0502020204030204" pitchFamily="34" charset="0"/>
              </a:rPr>
              <a:t>Diffusion, osmosis, and active transport form the foundation of cellular exchange systems. While diffusion and osmosis enable passive molecular movement, active transport uses energy to maintain concentration differences vital for life (Silverthorn, 2012). Their integration preserves homeostasis in cells, tissues, and entire organisms. Understanding these mechanisms is essential in explaining phenomena from plant water balance to nerve physiology (Campbell et al., 2020; Sherwood, 2012).</a:t>
            </a:r>
          </a:p>
        </p:txBody>
      </p:sp>
      <p:graphicFrame>
        <p:nvGraphicFramePr>
          <p:cNvPr id="35" name="Table 34">
            <a:extLst>
              <a:ext uri="{FF2B5EF4-FFF2-40B4-BE49-F238E27FC236}">
                <a16:creationId xmlns:a16="http://schemas.microsoft.com/office/drawing/2014/main" id="{867838A6-82EE-3072-05A3-17F64150958A}"/>
              </a:ext>
            </a:extLst>
          </p:cNvPr>
          <p:cNvGraphicFramePr>
            <a:graphicFrameLocks noGrp="1"/>
          </p:cNvGraphicFramePr>
          <p:nvPr>
            <p:extLst>
              <p:ext uri="{D42A27DB-BD31-4B8C-83A1-F6EECF244321}">
                <p14:modId xmlns:p14="http://schemas.microsoft.com/office/powerpoint/2010/main" val="1547960356"/>
              </p:ext>
            </p:extLst>
          </p:nvPr>
        </p:nvGraphicFramePr>
        <p:xfrm>
          <a:off x="15279706" y="25231018"/>
          <a:ext cx="14480040" cy="5362516"/>
        </p:xfrm>
        <a:graphic>
          <a:graphicData uri="http://schemas.openxmlformats.org/drawingml/2006/table">
            <a:tbl>
              <a:tblPr>
                <a:tableStyleId>{D113A9D2-9D6B-4929-AA2D-F23B5EE8CBE7}</a:tableStyleId>
              </a:tblPr>
              <a:tblGrid>
                <a:gridCol w="3620010">
                  <a:extLst>
                    <a:ext uri="{9D8B030D-6E8A-4147-A177-3AD203B41FA5}">
                      <a16:colId xmlns:a16="http://schemas.microsoft.com/office/drawing/2014/main" val="2817498019"/>
                    </a:ext>
                  </a:extLst>
                </a:gridCol>
                <a:gridCol w="3620010">
                  <a:extLst>
                    <a:ext uri="{9D8B030D-6E8A-4147-A177-3AD203B41FA5}">
                      <a16:colId xmlns:a16="http://schemas.microsoft.com/office/drawing/2014/main" val="2391374885"/>
                    </a:ext>
                  </a:extLst>
                </a:gridCol>
                <a:gridCol w="3620010">
                  <a:extLst>
                    <a:ext uri="{9D8B030D-6E8A-4147-A177-3AD203B41FA5}">
                      <a16:colId xmlns:a16="http://schemas.microsoft.com/office/drawing/2014/main" val="2622615970"/>
                    </a:ext>
                  </a:extLst>
                </a:gridCol>
                <a:gridCol w="3620010">
                  <a:extLst>
                    <a:ext uri="{9D8B030D-6E8A-4147-A177-3AD203B41FA5}">
                      <a16:colId xmlns:a16="http://schemas.microsoft.com/office/drawing/2014/main" val="712766"/>
                    </a:ext>
                  </a:extLst>
                </a:gridCol>
              </a:tblGrid>
              <a:tr h="1340629">
                <a:tc>
                  <a:txBody>
                    <a:bodyPr/>
                    <a:lstStyle/>
                    <a:p>
                      <a:pPr>
                        <a:buNone/>
                      </a:pPr>
                      <a:r>
                        <a:rPr lang="en-GB" sz="3600" b="1" dirty="0">
                          <a:solidFill>
                            <a:schemeClr val="bg1"/>
                          </a:solidFill>
                          <a:latin typeface="Calibri" panose="020F0502020204030204" pitchFamily="34" charset="0"/>
                          <a:cs typeface="Calibri" panose="020F0502020204030204" pitchFamily="34" charset="0"/>
                        </a:rPr>
                        <a:t>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buNone/>
                      </a:pPr>
                      <a:r>
                        <a:rPr lang="en-GB" sz="3600" b="1" dirty="0">
                          <a:solidFill>
                            <a:schemeClr val="bg1"/>
                          </a:solidFill>
                          <a:latin typeface="Calibri" panose="020F0502020204030204" pitchFamily="34" charset="0"/>
                          <a:cs typeface="Calibri" panose="020F0502020204030204" pitchFamily="34" charset="0"/>
                        </a:rPr>
                        <a:t>Energy Requirement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buNone/>
                      </a:pPr>
                      <a:r>
                        <a:rPr lang="en-GB" sz="3600" b="1" dirty="0">
                          <a:solidFill>
                            <a:schemeClr val="bg1"/>
                          </a:solidFill>
                          <a:latin typeface="Calibri" panose="020F0502020204030204" pitchFamily="34" charset="0"/>
                          <a:cs typeface="Calibri" panose="020F0502020204030204" pitchFamily="34" charset="0"/>
                        </a:rPr>
                        <a:t>Direction of Movement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buNone/>
                      </a:pPr>
                      <a:r>
                        <a:rPr lang="en-GB" sz="3600" b="1" dirty="0">
                          <a:solidFill>
                            <a:schemeClr val="bg1"/>
                          </a:solidFill>
                          <a:latin typeface="Calibri" panose="020F0502020204030204" pitchFamily="34" charset="0"/>
                          <a:cs typeface="Calibri" panose="020F0502020204030204" pitchFamily="34" charset="0"/>
                        </a:rPr>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688920559"/>
                  </a:ext>
                </a:extLst>
              </a:tr>
              <a:tr h="1340629">
                <a:tc>
                  <a:txBody>
                    <a:bodyPr/>
                    <a:lstStyle/>
                    <a:p>
                      <a:pPr>
                        <a:buNone/>
                      </a:pPr>
                      <a:r>
                        <a:rPr lang="en-GB" sz="3600" dirty="0">
                          <a:solidFill>
                            <a:schemeClr val="tx1"/>
                          </a:solidFill>
                          <a:latin typeface="Calibri" panose="020F0502020204030204" pitchFamily="34" charset="0"/>
                          <a:cs typeface="Calibri" panose="020F0502020204030204" pitchFamily="34" charset="0"/>
                        </a:rPr>
                        <a:t>Diffusion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GB" sz="3600" dirty="0">
                          <a:solidFill>
                            <a:schemeClr val="tx1"/>
                          </a:solidFill>
                          <a:latin typeface="Calibri" panose="020F0502020204030204" pitchFamily="34" charset="0"/>
                          <a:cs typeface="Calibri" panose="020F0502020204030204" pitchFamily="34" charset="0"/>
                        </a:rPr>
                        <a:t>No energy (passive)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GB" sz="3600">
                          <a:solidFill>
                            <a:schemeClr val="tx1"/>
                          </a:solidFill>
                          <a:latin typeface="Calibri" panose="020F0502020204030204" pitchFamily="34" charset="0"/>
                          <a:cs typeface="Calibri" panose="020F0502020204030204" pitchFamily="34" charset="0"/>
                        </a:rPr>
                        <a:t>High → 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GB" sz="3600">
                          <a:solidFill>
                            <a:schemeClr val="tx1"/>
                          </a:solidFill>
                          <a:latin typeface="Calibri" panose="020F0502020204030204" pitchFamily="34" charset="0"/>
                          <a:cs typeface="Calibri" panose="020F0502020204030204" pitchFamily="34" charset="0"/>
                        </a:rPr>
                        <a:t>Oxygen exchange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339223296"/>
                  </a:ext>
                </a:extLst>
              </a:tr>
              <a:tr h="1340629">
                <a:tc>
                  <a:txBody>
                    <a:bodyPr/>
                    <a:lstStyle/>
                    <a:p>
                      <a:pPr>
                        <a:buNone/>
                      </a:pPr>
                      <a:r>
                        <a:rPr lang="en-GB" sz="3600" dirty="0">
                          <a:solidFill>
                            <a:schemeClr val="tx1"/>
                          </a:solidFill>
                          <a:latin typeface="Calibri" panose="020F0502020204030204" pitchFamily="34" charset="0"/>
                          <a:cs typeface="Calibri" panose="020F0502020204030204" pitchFamily="34" charset="0"/>
                        </a:rPr>
                        <a:t>Osmosis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GB" sz="3600" dirty="0">
                          <a:solidFill>
                            <a:schemeClr val="tx1"/>
                          </a:solidFill>
                          <a:latin typeface="Calibri" panose="020F0502020204030204" pitchFamily="34" charset="0"/>
                          <a:cs typeface="Calibri" panose="020F0502020204030204" pitchFamily="34" charset="0"/>
                        </a:rPr>
                        <a:t>No energy (passive)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GB" sz="3600" dirty="0">
                          <a:solidFill>
                            <a:schemeClr val="tx1"/>
                          </a:solidFill>
                          <a:latin typeface="Calibri" panose="020F0502020204030204" pitchFamily="34" charset="0"/>
                          <a:cs typeface="Calibri" panose="020F0502020204030204" pitchFamily="34" charset="0"/>
                        </a:rPr>
                        <a:t>Water → Higher solute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GB" sz="3600" dirty="0">
                          <a:solidFill>
                            <a:schemeClr val="tx1"/>
                          </a:solidFill>
                          <a:latin typeface="Calibri" panose="020F0502020204030204" pitchFamily="34" charset="0"/>
                          <a:cs typeface="Calibri" panose="020F0502020204030204" pitchFamily="34" charset="0"/>
                        </a:rPr>
                        <a:t>Root water uptake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340662226"/>
                  </a:ext>
                </a:extLst>
              </a:tr>
              <a:tr h="1340629">
                <a:tc>
                  <a:txBody>
                    <a:bodyPr/>
                    <a:lstStyle/>
                    <a:p>
                      <a:pPr>
                        <a:buNone/>
                      </a:pPr>
                      <a:r>
                        <a:rPr lang="en-GB" sz="3600">
                          <a:solidFill>
                            <a:schemeClr val="tx1"/>
                          </a:solidFill>
                          <a:latin typeface="Calibri" panose="020F0502020204030204" pitchFamily="34" charset="0"/>
                          <a:cs typeface="Calibri" panose="020F0502020204030204" pitchFamily="34" charset="0"/>
                        </a:rPr>
                        <a:t>Active Transport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GB" sz="3600">
                          <a:solidFill>
                            <a:schemeClr val="tx1"/>
                          </a:solidFill>
                          <a:latin typeface="Calibri" panose="020F0502020204030204" pitchFamily="34" charset="0"/>
                          <a:cs typeface="Calibri" panose="020F0502020204030204" pitchFamily="34" charset="0"/>
                        </a:rPr>
                        <a:t>Requires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GB" sz="3600" dirty="0">
                          <a:solidFill>
                            <a:schemeClr val="tx1"/>
                          </a:solidFill>
                          <a:latin typeface="Calibri" panose="020F0502020204030204" pitchFamily="34" charset="0"/>
                          <a:cs typeface="Calibri" panose="020F0502020204030204" pitchFamily="34" charset="0"/>
                        </a:rPr>
                        <a:t>Low → 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buNone/>
                      </a:pPr>
                      <a:r>
                        <a:rPr lang="en-GB" sz="3600" dirty="0">
                          <a:solidFill>
                            <a:schemeClr val="tx1"/>
                          </a:solidFill>
                          <a:latin typeface="Calibri" panose="020F0502020204030204" pitchFamily="34" charset="0"/>
                          <a:cs typeface="Calibri" panose="020F0502020204030204" pitchFamily="34" charset="0"/>
                        </a:rPr>
                        <a:t>Sodium-potassium pump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205207879"/>
                  </a:ext>
                </a:extLst>
              </a:tr>
            </a:tbl>
          </a:graphicData>
        </a:graphic>
      </p:graphicFrame>
      <p:grpSp>
        <p:nvGrpSpPr>
          <p:cNvPr id="36" name="Group 35">
            <a:extLst>
              <a:ext uri="{FF2B5EF4-FFF2-40B4-BE49-F238E27FC236}">
                <a16:creationId xmlns:a16="http://schemas.microsoft.com/office/drawing/2014/main" id="{AD657CA3-B85E-AC6E-396F-1121E5668A77}"/>
              </a:ext>
            </a:extLst>
          </p:cNvPr>
          <p:cNvGrpSpPr/>
          <p:nvPr/>
        </p:nvGrpSpPr>
        <p:grpSpPr>
          <a:xfrm>
            <a:off x="15137606" y="30826840"/>
            <a:ext cx="14679786" cy="7341168"/>
            <a:chOff x="357809" y="10933042"/>
            <a:chExt cx="16260417" cy="13323650"/>
          </a:xfrm>
        </p:grpSpPr>
        <p:sp>
          <p:nvSpPr>
            <p:cNvPr id="37" name="Rectangle: Top Corners Rounded 36">
              <a:extLst>
                <a:ext uri="{FF2B5EF4-FFF2-40B4-BE49-F238E27FC236}">
                  <a16:creationId xmlns:a16="http://schemas.microsoft.com/office/drawing/2014/main" id="{3DE89262-6090-B8DA-C1D0-76D7B304514F}"/>
                </a:ext>
              </a:extLst>
            </p:cNvPr>
            <p:cNvSpPr/>
            <p:nvPr/>
          </p:nvSpPr>
          <p:spPr>
            <a:xfrm>
              <a:off x="357809" y="10933042"/>
              <a:ext cx="16260417" cy="1512389"/>
            </a:xfrm>
            <a:prstGeom prst="round2Same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5400" b="1" dirty="0">
                  <a:latin typeface="Calibri" panose="020F0502020204030204" pitchFamily="34" charset="0"/>
                  <a:cs typeface="Calibri" panose="020F0502020204030204" pitchFamily="34" charset="0"/>
                </a:rPr>
                <a:t>References</a:t>
              </a:r>
              <a:endParaRPr lang="en-GB" sz="5400" b="1" dirty="0">
                <a:latin typeface="Calibri" panose="020F0502020204030204" pitchFamily="34" charset="0"/>
                <a:cs typeface="Calibri" panose="020F0502020204030204" pitchFamily="34" charset="0"/>
              </a:endParaRPr>
            </a:p>
          </p:txBody>
        </p:sp>
        <p:sp>
          <p:nvSpPr>
            <p:cNvPr id="38" name="Rectangle: Top Corners Rounded 37">
              <a:extLst>
                <a:ext uri="{FF2B5EF4-FFF2-40B4-BE49-F238E27FC236}">
                  <a16:creationId xmlns:a16="http://schemas.microsoft.com/office/drawing/2014/main" id="{C446E29B-9DE8-4E87-3A67-D07C7498F094}"/>
                </a:ext>
              </a:extLst>
            </p:cNvPr>
            <p:cNvSpPr/>
            <p:nvPr/>
          </p:nvSpPr>
          <p:spPr>
            <a:xfrm flipV="1">
              <a:off x="357809" y="12476182"/>
              <a:ext cx="16260417" cy="11780510"/>
            </a:xfrm>
            <a:prstGeom prst="round2SameRect">
              <a:avLst>
                <a:gd name="adj1" fmla="val 5399"/>
                <a:gd name="adj2" fmla="val 0"/>
              </a:avLst>
            </a:prstGeom>
            <a:solidFill>
              <a:schemeClr val="bg1"/>
            </a:solidFill>
            <a:ln>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40" name="Rectangle 8">
            <a:extLst>
              <a:ext uri="{FF2B5EF4-FFF2-40B4-BE49-F238E27FC236}">
                <a16:creationId xmlns:a16="http://schemas.microsoft.com/office/drawing/2014/main" id="{BD41A1C6-8BE5-A867-80D5-636A2EAF32DE}"/>
              </a:ext>
            </a:extLst>
          </p:cNvPr>
          <p:cNvSpPr>
            <a:spLocks noChangeArrowheads="1"/>
          </p:cNvSpPr>
          <p:nvPr/>
        </p:nvSpPr>
        <p:spPr bwMode="auto">
          <a:xfrm>
            <a:off x="15155652" y="31832026"/>
            <a:ext cx="14536969" cy="615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711200" marR="0" lvl="0" indent="-71120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Barnard, C. J., Gilbert, F. S., &amp; </a:t>
            </a:r>
            <a:r>
              <a:rPr kumimoji="0" lang="en-US" altLang="en-US" sz="2500" b="0"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Mcgregor</a:t>
            </a: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P. K. (2007). </a:t>
            </a:r>
            <a:r>
              <a:rPr kumimoji="0" lang="en-US" altLang="en-US" sz="25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Asking questions in biology : key skills for practical assessments and project work</a:t>
            </a: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Prentice Hall.</a:t>
            </a:r>
          </a:p>
          <a:p>
            <a:pPr marL="711200" marR="0" lvl="0" indent="-71120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Campbell, N. A., Urry, L. A., Cain, M. L., Wasserman, S. A., Minorsky, P. V., &amp; Orr, R. B. (2021). </a:t>
            </a:r>
            <a:r>
              <a:rPr kumimoji="0" lang="en-US" altLang="en-US" sz="25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Biology: A Global Approach</a:t>
            </a: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(12th ed.). Pearson Education Limited.</a:t>
            </a:r>
          </a:p>
          <a:p>
            <a:pPr marL="711200" marR="0" lvl="0" indent="-71120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Gillam, P. (2015, October 19). </a:t>
            </a:r>
            <a:r>
              <a:rPr kumimoji="0" lang="en-US" altLang="en-US" sz="25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diffusion – PMG Biology</a:t>
            </a: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PMG Biology. https://pmgbiology.com/tag/diffusion/</a:t>
            </a:r>
          </a:p>
          <a:p>
            <a:pPr marL="711200" marR="0" lvl="0" indent="-71120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Kratz, R. F., &amp; Siegfried, D. R. (2010). </a:t>
            </a:r>
            <a:r>
              <a:rPr kumimoji="0" lang="en-US" altLang="en-US" sz="25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Biology For Dummies</a:t>
            </a: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John Wiley &amp; Sons.</a:t>
            </a:r>
          </a:p>
          <a:p>
            <a:pPr marL="711200" marR="0" lvl="0" indent="-71120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Lodish, H. F., Berk, A., Kaiser, C. A., Krieger, M., &amp; Scott, M. P. (2007). </a:t>
            </a:r>
            <a:r>
              <a:rPr kumimoji="0" lang="en-US" altLang="en-US" sz="25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Molecular Cell Biology</a:t>
            </a: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W H Freeman &amp; Company.</a:t>
            </a:r>
          </a:p>
          <a:p>
            <a:pPr marL="711200" marR="0" lvl="0" indent="-71120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Quinnell, S., Hulsman, K., &amp; Davie, P. (2004). Protein model for pollutant uptake and elimination by living organisms and its implications for ecotoxicology. </a:t>
            </a:r>
            <a:r>
              <a:rPr kumimoji="0" lang="en-US" altLang="en-US" sz="25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Marine Ecology Progress Series</a:t>
            </a: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r>
              <a:rPr kumimoji="0" lang="en-US" altLang="en-US" sz="25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274</a:t>
            </a: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 1–16. https://doi.org/10.3354/meps274001</a:t>
            </a:r>
          </a:p>
          <a:p>
            <a:pPr marL="711200" marR="0" lvl="0" indent="-71120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Sherwood, L. (2016). </a:t>
            </a:r>
            <a:r>
              <a:rPr kumimoji="0" lang="en-US" altLang="en-US" sz="25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Human Physiology : from Cells to Systems</a:t>
            </a: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(9th ed.). Cengage Learning.</a:t>
            </a:r>
          </a:p>
          <a:p>
            <a:pPr marL="711200" marR="0" lvl="0" indent="-71120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Silverthorn, D. U., Johnson, B. R., Ober, W. C., Ober, C. E., &amp; Silverthorn, A. C. (2016). </a:t>
            </a:r>
            <a:r>
              <a:rPr kumimoji="0" lang="en-US" altLang="en-US" sz="25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Human physiology : an integrated approach</a:t>
            </a: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(6th ed.). Pearson.</a:t>
            </a:r>
          </a:p>
          <a:p>
            <a:pPr marL="711200" marR="0" lvl="0" indent="-711200" algn="just"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Wilkin, D., &amp; Brainard, J. (2021, November 23). </a:t>
            </a:r>
            <a:r>
              <a:rPr kumimoji="0" lang="en-US" altLang="en-US" sz="2500" b="0" i="1" u="none" strike="noStrike" cap="none" normalizeH="0" baseline="0" dirty="0">
                <a:ln>
                  <a:noFill/>
                </a:ln>
                <a:solidFill>
                  <a:schemeClr val="tx1"/>
                </a:solidFill>
                <a:effectLst/>
                <a:latin typeface="Calibri" panose="020F0502020204030204" pitchFamily="34" charset="0"/>
                <a:cs typeface="Calibri" panose="020F0502020204030204" pitchFamily="34" charset="0"/>
              </a:rPr>
              <a:t>CK12-Foundation</a:t>
            </a:r>
            <a:r>
              <a:rPr kumimoji="0" lang="en-US" altLang="en-US" sz="25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Flexbooks.ck12.org. https://flexbooks.ck12.org/cbook/ck-12-biology-flexbook-2.0/section/2.12/primary/lesson/osmosis-bio/</a:t>
            </a:r>
          </a:p>
        </p:txBody>
      </p:sp>
    </p:spTree>
    <p:extLst>
      <p:ext uri="{BB962C8B-B14F-4D97-AF65-F5344CB8AC3E}">
        <p14:creationId xmlns:p14="http://schemas.microsoft.com/office/powerpoint/2010/main" val="229492736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1519</TotalTime>
  <Words>920</Words>
  <Application>Microsoft Office PowerPoint</Application>
  <PresentationFormat>Custom</PresentationFormat>
  <Paragraphs>49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Calibri</vt:lpstr>
      <vt:lpstr>Century</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13</cp:revision>
  <dcterms:created xsi:type="dcterms:W3CDTF">2025-10-29T21:30:49Z</dcterms:created>
  <dcterms:modified xsi:type="dcterms:W3CDTF">2025-10-30T22:53:02Z</dcterms:modified>
</cp:coreProperties>
</file>